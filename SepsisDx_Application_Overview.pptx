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5" r:id="rId7"/>
    <p:sldId id="266" r:id="rId8"/>
    <p:sldId id="268" r:id="rId9"/>
    <p:sldId id="270" r:id="rId10"/>
    <p:sldId id="271" r:id="rId11"/>
    <p:sldId id="273" r:id="rId12"/>
    <p:sldId id="275" r:id="rId13"/>
    <p:sldId id="277" r:id="rId14"/>
    <p:sldId id="279" r:id="rId15"/>
    <p:sldId id="28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7"/>
    <p:restoredTop sz="94623"/>
  </p:normalViewPr>
  <p:slideViewPr>
    <p:cSldViewPr snapToGrid="0" snapToObjects="1">
      <p:cViewPr varScale="1">
        <p:scale>
          <a:sx n="103" d="100"/>
          <a:sy n="103" d="100"/>
        </p:scale>
        <p:origin x="200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645920"/>
            <a:ext cx="13716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SepsisDx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3C5FD"/>
                </a:solidFill>
                <a:latin typeface="Calibri"/>
              </a:defRPr>
            </a:pPr>
            <a:r>
              <a:t>ML-Powered Sepsis Classification from Urine Biomarkers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Web Application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Digital Biosciences  |  An MDC Studio Portfolio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6692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0A5FA"/>
                </a:solidFill>
                <a:latin typeface="Calibri"/>
              </a:defRPr>
            </a:pPr>
            <a:r>
              <a:t>sepsis-dx.com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What is SepsisDx?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SepsisDx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by Digital Biosciences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4B5563"/>
                </a:solidFill>
                <a:latin typeface="Calibri"/>
              </a:defRPr>
            </a:pPr>
            <a:r>
              <a:t>SepsisDx is a web-based clinical decision support tool for early sepsis detection</a:t>
            </a:r>
          </a:p>
          <a:p>
            <a:pPr>
              <a:spcAft>
                <a:spcPts val="600"/>
              </a:spcAft>
              <a:defRPr sz="1600">
                <a:solidFill>
                  <a:srgbClr val="4B5563"/>
                </a:solidFill>
                <a:latin typeface="Calibri"/>
              </a:defRPr>
            </a:pPr>
            <a:r>
              <a:t>Uses machine learning to classify sepsis from urine ELISA biomarker measurements</a:t>
            </a:r>
          </a:p>
          <a:p>
            <a:pPr>
              <a:spcAft>
                <a:spcPts val="600"/>
              </a:spcAft>
              <a:defRPr sz="1600">
                <a:solidFill>
                  <a:srgbClr val="4B5563"/>
                </a:solidFill>
                <a:latin typeface="Calibri"/>
              </a:defRPr>
            </a:pPr>
            <a:r>
              <a:t>Two key biomarkers: CRP/Creatinine ratio and IP-10/Creatinine ratio (pg/mg)</a:t>
            </a:r>
          </a:p>
          <a:p>
            <a:pPr>
              <a:spcAft>
                <a:spcPts val="600"/>
              </a:spcAft>
              <a:defRPr sz="1600">
                <a:solidFill>
                  <a:srgbClr val="4B5563"/>
                </a:solidFill>
                <a:latin typeface="Calibri"/>
              </a:defRPr>
            </a:pPr>
            <a:r>
              <a:t>Validated against gold standard: Blood culture + Sepsis-3 criteria (SOFA ≥ 2)</a:t>
            </a:r>
          </a:p>
          <a:p>
            <a:pPr>
              <a:spcAft>
                <a:spcPts val="600"/>
              </a:spcAft>
              <a:defRPr sz="1600">
                <a:solidFill>
                  <a:srgbClr val="4B5563"/>
                </a:solidFill>
                <a:latin typeface="Calibri"/>
              </a:defRPr>
            </a:pPr>
            <a:r>
              <a:t>Compares ML predictions with traditional SepsisDx rule-based thresholds</a:t>
            </a:r>
          </a:p>
          <a:p>
            <a:pPr>
              <a:spcAft>
                <a:spcPts val="600"/>
              </a:spcAft>
              <a:defRPr sz="1600">
                <a:solidFill>
                  <a:srgbClr val="4B5563"/>
                </a:solidFill>
                <a:latin typeface="Calibri"/>
              </a:defRPr>
            </a:pPr>
            <a:r>
              <a:t>Five classifier options: Baseline, Logistic Regression, Random Forest, XGBoost, Neural Network</a:t>
            </a:r>
          </a:p>
          <a:p>
            <a:pPr>
              <a:spcAft>
                <a:spcPts val="600"/>
              </a:spcAft>
              <a:defRPr sz="1600">
                <a:solidFill>
                  <a:srgbClr val="4B5563"/>
                </a:solidFill>
                <a:latin typeface="Calibri"/>
              </a:defRPr>
            </a:pPr>
            <a:r>
              <a:t>Full SHAP explainability for transparent, interpretable predictions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63040"/>
            <a:ext cx="320040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Classifiers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651760"/>
            <a:ext cx="3200400" cy="9144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154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Biomarkers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840480"/>
            <a:ext cx="3200400" cy="9144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SHAP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343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5029200"/>
            <a:ext cx="3200400" cy="914400"/>
          </a:xfrm>
          <a:prstGeom prst="round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Calibri"/>
              </a:defRPr>
            </a:pPr>
            <a:r>
              <a:t>Application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Technology stack and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SepsisDx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by Digital Biosciences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99932"/>
            <a:ext cx="5029200" cy="12801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4370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485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Tailwind CSS, Chart.js, Bootstrap Icons</a:t>
            </a:r>
            <a:br/>
            <a:r>
              <a:t>Responsive design, dark navy theme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37292"/>
            <a:ext cx="5029200" cy="1280160"/>
          </a:xfrm>
          <a:prstGeom prst="round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1744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8593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Flask + Blueprints, Gunicorn (gthread)</a:t>
            </a:r>
            <a:br/>
            <a:r>
              <a:t>Session-based auth, CORS enabled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74652"/>
            <a:ext cx="5029200" cy="12801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9118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ML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2329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1D5DB"/>
                </a:solidFill>
                <a:latin typeface="Calibri"/>
              </a:defRPr>
            </a:pPr>
            <a:r>
              <a:t>scikit-learn, SHAP, XGBoost</a:t>
            </a:r>
            <a:br/>
            <a:r>
              <a:t>Background training with threading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Deployment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NVIDIA Jetson AGX Thor (aarch64)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Gunicorn on port 8082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Nginx reverse proxy on port 8443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Cloudflare Tunnel → sepsis-dx.com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Systemd service management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Session auth (werkzeug hashing)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Log rotation with logrotate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Calibri"/>
              </a:defRPr>
            </a:pPr>
            <a:r>
              <a:t>Application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8 main sections accessible from the navigation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SepsisDx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by Digital Biosciences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651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2651760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System overview, quick predict,</a:t>
            </a:r>
            <a:br/>
            <a:r>
              <a:t>model stats, reference samples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651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1371600"/>
            <a:ext cx="2651760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8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/predict/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Single patient classification</a:t>
            </a:r>
            <a:br/>
            <a:r>
              <a:t>with SHAP explanations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71600"/>
            <a:ext cx="2651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265176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Batch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/batch/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CSV upload for bulk</a:t>
            </a:r>
            <a:br/>
            <a:r>
              <a:t>classification &amp; download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371600"/>
            <a:ext cx="2651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89720" y="1371600"/>
            <a:ext cx="2651760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726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/train/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Configure &amp; run model</a:t>
            </a:r>
            <a:br/>
            <a:r>
              <a:t>training with CV metrics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31920"/>
            <a:ext cx="2651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3931920"/>
            <a:ext cx="2651760" cy="635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/models/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View, activate, delete</a:t>
            </a:r>
            <a:br/>
            <a:r>
              <a:t>exported ML models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29000" y="3931920"/>
            <a:ext cx="2651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429000" y="3931920"/>
            <a:ext cx="2651760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1188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Explain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/explain/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SHAP plots, ROC curves,</a:t>
            </a:r>
            <a:br/>
            <a:r>
              <a:t>decision boundaries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3931920"/>
            <a:ext cx="2651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60" y="3931920"/>
            <a:ext cx="2651760" cy="63500"/>
          </a:xfrm>
          <a:prstGeom prst="rect">
            <a:avLst/>
          </a:prstGeom>
          <a:solidFill>
            <a:srgbClr val="066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Datasets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/datasets/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Browse data, generate</a:t>
            </a:r>
            <a:br/>
            <a:r>
              <a:t>synthetic datasets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9720" y="3931920"/>
            <a:ext cx="26517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189720" y="3931920"/>
            <a:ext cx="2651760" cy="635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3726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Help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/help/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User manual, API docs,</a:t>
            </a:r>
            <a:br/>
            <a:r>
              <a:t>clinical glossary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/ — System overview and quick access to all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SepsisDx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by Digital Biosciences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8B4CC9-A41D-D2A8-EE36-9D0F4C1F1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62" y="1371600"/>
            <a:ext cx="7286857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25381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Quick Predict form — enter CRP/Cr and IP-10/Cr for instant classification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System statistics cards: total models, best AUROC, active model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6-card navigation grid linking to all major features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Reference samples table with 6 pre-configured test cases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Highlights false negative cases (Sample 6) for awareness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Shows both ML prediction and SepsisDx rule-based comparison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Active model badge in navbar with real-time indicator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7218" y="1371600"/>
            <a:ext cx="39227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rPr dirty="0"/>
              <a:t>Functions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Calibri"/>
              </a:defRPr>
            </a:pPr>
            <a:r>
              <a:t>Prediction — Input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/predict/ — Enter biomarker values for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SepsisDx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by Digital Biosciences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78BCE9-6613-A738-DC0E-1E301E951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143000"/>
            <a:ext cx="7772400" cy="31468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66919" y="13888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rPr dirty="0"/>
              <a:t>Input Form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6919" y="1937539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CRP/Creatinine ratio input (</a:t>
            </a:r>
            <a:r>
              <a:rPr dirty="0" err="1"/>
              <a:t>pg</a:t>
            </a:r>
            <a:r>
              <a:rPr dirty="0"/>
              <a:t>/mg) — threshold hint: &gt;300 = Septic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IP-10/Creatinine ratio input (</a:t>
            </a:r>
            <a:r>
              <a:rPr dirty="0" err="1"/>
              <a:t>pg</a:t>
            </a:r>
            <a:r>
              <a:rPr dirty="0"/>
              <a:t>/mg) — threshold hint: &gt;100 = Septic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Model selection dropdown showing all models with AUROC scores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Biomarker reference table with clinical thresholds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Risk level color legend: LOW, MODERATE, HIGH, VERY HIGH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Validates inputs before submission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Calibri"/>
              </a:defRPr>
            </a:pPr>
            <a:r>
              <a:t>Prediction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/predict/run — Classification result with SHAP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SepsisDx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by Digital Biosciences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Result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Large color-coded result: Red (Septic) or Green (Not Septic)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Probability percentage with visual progress bar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Risk level badge: LOW / MODERATE / HIGH / VERY HIGH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Optimal threshold indicator used for classification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SepsisDx rule-based comparison (agreement check)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SHAP contribution table per feature with direction arrows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Clinical context note with actionable guidance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Links to new prediction and full SHAP dashboard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ACEE26-3693-771D-2FD2-FEE6C9010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14" y="1554479"/>
            <a:ext cx="6566626" cy="27703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C4EB27A-FAB9-1884-5898-803613B93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77781"/>
            <a:ext cx="7772400" cy="308572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Calibri"/>
              </a:defRPr>
            </a:pPr>
            <a:r>
              <a:t>Batch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/batch/ — Upload CSV for bulk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SepsisDx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by Digital Biosciences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9794" y="4297680"/>
            <a:ext cx="2570206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Summary cards: total, septic, not septic, agreement %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Results table showing first 100 rows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Full CSV download with all predictions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Columns: probability, risk level, SepsisDx comparison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48F02C7-ED76-5E79-B8E7-F4E8A24E0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57" y="1190963"/>
            <a:ext cx="7772400" cy="22815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59794" y="1872276"/>
            <a:ext cx="3027405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CSV file upload with format specification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Required columns: </a:t>
            </a:r>
            <a:r>
              <a:rPr dirty="0" err="1"/>
              <a:t>crp_cr_pg_mg</a:t>
            </a:r>
            <a:r>
              <a:rPr dirty="0"/>
              <a:t>, ip10_cr_pg_mg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Optional: </a:t>
            </a:r>
            <a:r>
              <a:rPr dirty="0" err="1"/>
              <a:t>sample_id</a:t>
            </a:r>
            <a:r>
              <a:rPr dirty="0"/>
              <a:t>, </a:t>
            </a:r>
            <a:r>
              <a:rPr dirty="0" err="1"/>
              <a:t>clinical_status</a:t>
            </a:r>
            <a:r>
              <a:rPr dirty="0"/>
              <a:t>, creatinine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Example CSV format displayed for reference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Calibri"/>
              </a:defRPr>
            </a:pPr>
            <a:r>
              <a:t>Training —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/train/ — Select classifiers, dataset, and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SepsisDx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by Digital Biosciences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314" y="1371600"/>
            <a:ext cx="3175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rPr dirty="0"/>
              <a:t>Configuration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7308" y="1920240"/>
            <a:ext cx="3002692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Calibri"/>
              </a:defRPr>
            </a:pPr>
            <a:r>
              <a:rPr dirty="0"/>
              <a:t>5 classifiers available: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Calibri"/>
              </a:defRPr>
            </a:pPr>
            <a:r>
              <a:rPr dirty="0"/>
              <a:t>  • SepsisDx Baseline (rule-based threshold)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Calibri"/>
              </a:defRPr>
            </a:pPr>
            <a:r>
              <a:rPr dirty="0"/>
              <a:t>  • Logistic Regression (C, </a:t>
            </a:r>
            <a:r>
              <a:rPr dirty="0" err="1"/>
              <a:t>class_weight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Calibri"/>
              </a:defRPr>
            </a:pPr>
            <a:r>
              <a:rPr dirty="0"/>
              <a:t>  • Random Forest (</a:t>
            </a:r>
            <a:r>
              <a:rPr dirty="0" err="1"/>
              <a:t>n_estimators</a:t>
            </a:r>
            <a:r>
              <a:rPr dirty="0"/>
              <a:t>, </a:t>
            </a:r>
            <a:r>
              <a:rPr dirty="0" err="1"/>
              <a:t>max_depth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XGBoost</a:t>
            </a:r>
            <a:r>
              <a:rPr dirty="0"/>
              <a:t> (</a:t>
            </a:r>
            <a:r>
              <a:rPr dirty="0" err="1"/>
              <a:t>learning_rate</a:t>
            </a:r>
            <a:r>
              <a:rPr dirty="0"/>
              <a:t>, </a:t>
            </a:r>
            <a:r>
              <a:rPr dirty="0" err="1"/>
              <a:t>max_depth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Calibri"/>
              </a:defRPr>
            </a:pPr>
            <a:r>
              <a:rPr dirty="0"/>
              <a:t>  • Neural Network (hidden layers, </a:t>
            </a:r>
            <a:r>
              <a:rPr dirty="0" err="1"/>
              <a:t>max_iter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Calibri"/>
              </a:defRPr>
            </a:pPr>
            <a:r>
              <a:rPr dirty="0"/>
              <a:t>Per-classifier parameter customization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Calibri"/>
              </a:defRPr>
            </a:pPr>
            <a:r>
              <a:rPr dirty="0"/>
              <a:t>Dataset selection: existing CSVs or file upload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Calibri"/>
              </a:defRPr>
            </a:pPr>
            <a:r>
              <a:rPr dirty="0"/>
              <a:t>Feature mode: Basic (2 features) or Extended (7)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Calibri"/>
              </a:defRPr>
            </a:pPr>
            <a:r>
              <a:rPr dirty="0"/>
              <a:t>Background training with real-time progress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D260D7-141E-1A69-9D55-FE44CD023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60" y="1325880"/>
            <a:ext cx="7772400" cy="38074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Calibri"/>
              </a:defRPr>
            </a:pPr>
            <a:r>
              <a:t>Training — Progress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Real-time progress tracking and cross-validation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SepsisDx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by Digital Biosciences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Progress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Animated spinner with status messages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Progress bar updates every 2-3 seconds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Elapsed time counter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Auto-redirects to results on 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Results Display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5-fold cross-validation metrics table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AUROC, Sensitivity, Specificity, F1 (mean ± std)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AUROC comparison bar chart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List of exported model files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Links to Models page and SHAP analysis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EF9FC9-342C-9D19-BCA9-AB3E60E09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11" y="1371600"/>
            <a:ext cx="3712106" cy="18184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0305D0-EB60-3DB0-6AFF-61AEA6C19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19" y="2441448"/>
            <a:ext cx="3989701" cy="43495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Calibri"/>
              </a:defRPr>
            </a:pPr>
            <a:r>
              <a:t>Model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/models/ — View, activate, and manage trained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SepsisDx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by Digital Biosciences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Models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1448" y="1920240"/>
            <a:ext cx="2928551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Responsive card grid (1-4 columns)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Active model highlighted with colored ring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Shows: name, classifier type, AUROC, threshold, export date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Actions: View Details, Activate, Delete (with confirmation)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Model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1448" y="4297680"/>
            <a:ext cx="292855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Full metadata: name, class, threshold, export time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Gold standard and biomarker source info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Model hyperparameters table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Training metrics (AUROC, sensitivity, specificity, etc.)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File size information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04F4FA-5E5D-B523-05E6-CE65DC731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94" y="1218209"/>
            <a:ext cx="7772400" cy="24393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48798B-67AF-8294-142E-2ACCEEF46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94" y="3821769"/>
            <a:ext cx="7772400" cy="29559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Calibri"/>
              </a:defRPr>
            </a:pPr>
            <a:r>
              <a:t>SHAP Explainability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/explain/ — Model interpretation and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SepsisDx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by Digital Biosciences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t>Visualization Tabs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SHAP Summary Plot — Feature impact distribution across all samples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Feature Importance — Mean |SHAP| values ranked by contribution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Decision Boundary — 2D visualization of classification regions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ROC Curves — Model performance comparison with literature benchmarks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Calibration Curves — Predicted vs. actual probability 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628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8463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Calibri"/>
              </a:defRPr>
            </a:pPr>
            <a:r>
              <a:t>Model selector dropdown for comparison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Calibri"/>
              </a:defRPr>
            </a:pPr>
            <a:r>
              <a:t>Plots generated on-demand (server-side)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Calibri"/>
              </a:defRPr>
            </a:pPr>
            <a:r>
              <a:t>Lazy-loaded images for performance</a:t>
            </a:r>
          </a:p>
          <a:p>
            <a:pPr>
              <a:spcAft>
                <a:spcPts val="600"/>
              </a:spcAft>
              <a:defRPr sz="1300">
                <a:solidFill>
                  <a:srgbClr val="4B5563"/>
                </a:solidFill>
                <a:latin typeface="Calibri"/>
              </a:defRPr>
            </a:pPr>
            <a:r>
              <a:t>Dynamic updates when switching models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B5F449-8BCA-9089-5653-D97341DFB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30" y="1143000"/>
            <a:ext cx="6013930" cy="55562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Calibri"/>
              </a:defRPr>
            </a:pPr>
            <a:r>
              <a:t>Dataset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/datasets/ — Browse data and generate synthetic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SepsisDx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by Digital Biosciences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Configure: septic, SIRS, healthy sample counts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Population profiles: General, ICU, Pediatric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Noise levels: Low, Medium, High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Optional extended biomarkers (7 features)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628"/>
                </a:solidFill>
                <a:latin typeface="Calibri"/>
              </a:defRPr>
            </a:pPr>
            <a:r>
              <a:t>Dataset 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0292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Column statistics (mean, std, min, max)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Class distribution badges (color-coded)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Paginated data table (50 rows/page)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CSV download for any dataset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5B042B-F4F3-835F-338B-249B9074F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89" y="1168775"/>
            <a:ext cx="5710536" cy="31868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F80ADB-515F-B5B2-92FC-74CFB529D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676" y="3291840"/>
            <a:ext cx="5926887" cy="31868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628"/>
                </a:solidFill>
                <a:latin typeface="Calibri"/>
              </a:defRPr>
            </a:pPr>
            <a:r>
              <a:t>Help Page &amp;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/help/ and /api/ — Documentation and programmatic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SepsisDx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0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alibri"/>
              </a:defRPr>
            </a:pPr>
            <a:r>
              <a:t>by Digital Biosciences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6612" y="1371599"/>
            <a:ext cx="44733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1628"/>
                </a:solidFill>
                <a:latin typeface="Calibri"/>
              </a:defRPr>
            </a:pPr>
            <a:r>
              <a:rPr dirty="0"/>
              <a:t>Help Page (14 Sections)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1764" y="1920240"/>
            <a:ext cx="4258235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Introduction &amp; Quick Start guide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Biomarker reference (CRP/Cr, IP-10/Cr thresholds)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Classifier descriptions and use cases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Using predictions, risk levels, clinical notes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Training pipeline and SHAP interpretation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Input data format with example CSV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Threshold optimization strategies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Clinical &amp; ML glossary (15 terms)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6610" y="4389120"/>
            <a:ext cx="447338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A1628"/>
                </a:solidFill>
                <a:latin typeface="Calibri"/>
              </a:defRPr>
            </a:pPr>
            <a:r>
              <a:rPr dirty="0"/>
              <a:t>REST API Endpoints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1764" y="4846320"/>
            <a:ext cx="425823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GET  /</a:t>
            </a:r>
            <a:r>
              <a:rPr dirty="0" err="1"/>
              <a:t>api</a:t>
            </a:r>
            <a:r>
              <a:rPr dirty="0"/>
              <a:t>/health — Service health check (no auth)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/predict — JSON prediction (</a:t>
            </a:r>
            <a:r>
              <a:rPr dirty="0" err="1"/>
              <a:t>crp_cr</a:t>
            </a:r>
            <a:r>
              <a:rPr dirty="0"/>
              <a:t>, ip10_cr)</a:t>
            </a:r>
          </a:p>
          <a:p>
            <a:pPr>
              <a:spcAft>
                <a:spcPts val="6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rPr dirty="0"/>
              <a:t>GET  /</a:t>
            </a:r>
            <a:r>
              <a:rPr dirty="0" err="1"/>
              <a:t>api</a:t>
            </a:r>
            <a:r>
              <a:rPr dirty="0"/>
              <a:t>/models — List all exported models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7A3F3B-9DE6-52CB-A6CD-A09112AB7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82" y="1280160"/>
            <a:ext cx="6433547" cy="42723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SepsisDx — Complete ML Pipeline for Sepsis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560320"/>
            <a:ext cx="2560320" cy="2103120"/>
          </a:xfrm>
          <a:prstGeom prst="round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Predict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Single &amp; batch patient</a:t>
            </a:r>
            <a:br/>
            <a:r>
              <a:t>classification with</a:t>
            </a:r>
            <a:br/>
            <a:r>
              <a:t>probability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2560320"/>
            <a:ext cx="2560320" cy="2103120"/>
          </a:xfrm>
          <a:prstGeom prst="round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9476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5 classifiers with</a:t>
            </a:r>
            <a:br/>
            <a:r>
              <a:t>cross-validation and</a:t>
            </a:r>
            <a:br/>
            <a:r>
              <a:t>threshold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560320"/>
            <a:ext cx="2560320" cy="2103120"/>
          </a:xfrm>
          <a:prstGeom prst="round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SHAP plots, ROC curves,</a:t>
            </a:r>
            <a:br/>
            <a:r>
              <a:t>decision boundaries</a:t>
            </a:r>
            <a:br/>
            <a:r>
              <a:t>for transparency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2560320"/>
            <a:ext cx="2560320" cy="2103120"/>
          </a:xfrm>
          <a:prstGeom prst="round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5548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Manage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Model versioning,</a:t>
            </a:r>
            <a:br/>
            <a:r>
              <a:t>activation, dataset</a:t>
            </a:r>
            <a:br/>
            <a:r>
              <a:t>browsing &amp;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120640"/>
            <a:ext cx="210312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Digital Biosciences  •  An MDC Studio Portfolio Company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A5FA"/>
                </a:solidFill>
                <a:latin typeface="Calibri"/>
              </a:defRPr>
            </a:pPr>
            <a:r>
              <a:t>sepsis-dx.com  |  dbmsciences.com  |  mdcstudio.com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1318</Words>
  <Application>Microsoft Macintosh PowerPoint</Application>
  <PresentationFormat>Widescreen</PresentationFormat>
  <Paragraphs>221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Gil Blankenship</cp:lastModifiedBy>
  <cp:revision>6</cp:revision>
  <dcterms:created xsi:type="dcterms:W3CDTF">2013-01-27T09:14:16Z</dcterms:created>
  <dcterms:modified xsi:type="dcterms:W3CDTF">2026-03-05T22:41:46Z</dcterms:modified>
  <cp:category/>
</cp:coreProperties>
</file>